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2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DATAXPERIENCE  ·  PROYECTO FINAL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Desigualdad social en Bogotá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Gini, pobreza y localidades: lo que dicen los datos oficiales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22960" y="4023360"/>
            <a:ext cx="5669280" cy="2148840"/>
          </a:xfrm>
          <a:prstGeom prst="roundRect">
            <a:avLst>
              <a:gd name="adj" fmla="val 5106"/>
            </a:avLst>
          </a:prstGeom>
          <a:solidFill>
            <a:srgbClr val="0A3D45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251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566160" y="4251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Johan David Pinto Martín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4709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66160" y="4709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Sistemas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5166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66160" y="5166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Camila Silva Gómez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5623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 · GRUPO · CICLO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0" y="5623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DataXperience · 1 · 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692640" y="4114800"/>
            <a:ext cx="1828800" cy="182880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5" name="Text 13"/>
          <p:cNvSpPr/>
          <p:nvPr/>
        </p:nvSpPr>
        <p:spPr>
          <a:xfrm>
            <a:off x="9692640" y="4434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2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692640" y="50749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22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localidades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22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analizadas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2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DEL PROYECTO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2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¿Desigualdad y pobreza van de la mano?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022F35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874520"/>
            <a:ext cx="10149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relación existe entre el Coeficiente de Gini y la pobreza monetaria en las 20 localidades de Bogotá, y qué tan bien predice el Gini el nivel de pobreza extrema de una localidad?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3337560"/>
            <a:ext cx="2048256" cy="2651760"/>
          </a:xfrm>
          <a:prstGeom prst="roundRect">
            <a:avLst>
              <a:gd name="adj" fmla="val 4464"/>
            </a:avLst>
          </a:prstGeom>
          <a:solidFill>
            <a:srgbClr val="F4F6F6"/>
          </a:solidFill>
          <a:ln w="12700">
            <a:solidFill>
              <a:srgbClr val="DDE6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44168" y="3611880"/>
            <a:ext cx="640080" cy="64008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8" name="Text 6"/>
          <p:cNvSpPr/>
          <p:nvPr/>
        </p:nvSpPr>
        <p:spPr>
          <a:xfrm>
            <a:off x="1344168" y="3611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2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438912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2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4800600"/>
            <a:ext cx="177393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 2 variables puntuales: Gini y pobreza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816352" y="3337560"/>
            <a:ext cx="2048256" cy="2651760"/>
          </a:xfrm>
          <a:prstGeom prst="roundRect">
            <a:avLst>
              <a:gd name="adj" fmla="val 4464"/>
            </a:avLst>
          </a:prstGeom>
          <a:solidFill>
            <a:srgbClr val="F4F6F6"/>
          </a:solidFill>
          <a:ln w="12700">
            <a:solidFill>
              <a:srgbClr val="DDE6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3611880"/>
            <a:ext cx="640080" cy="64008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3611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2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907792" y="438912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2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Limitada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53512" y="4800600"/>
            <a:ext cx="177393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Bogotá, 20 localidades, serie 2003–2021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92624" y="3337560"/>
            <a:ext cx="2048256" cy="2651760"/>
          </a:xfrm>
          <a:prstGeom prst="roundRect">
            <a:avLst>
              <a:gd name="adj" fmla="val 4464"/>
            </a:avLst>
          </a:prstGeom>
          <a:solidFill>
            <a:srgbClr val="F4F6F6"/>
          </a:solidFill>
          <a:ln w="12700">
            <a:solidFill>
              <a:srgbClr val="DDE6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96712" y="3611880"/>
            <a:ext cx="640080" cy="64008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8" name="Text 16"/>
          <p:cNvSpPr/>
          <p:nvPr/>
        </p:nvSpPr>
        <p:spPr>
          <a:xfrm>
            <a:off x="5696712" y="3611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2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084064" y="438912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2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Alcanzable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29784" y="4800600"/>
            <a:ext cx="177393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públicos oficiales ya disponibles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168896" y="3337560"/>
            <a:ext cx="2048256" cy="2651760"/>
          </a:xfrm>
          <a:prstGeom prst="roundRect">
            <a:avLst>
              <a:gd name="adj" fmla="val 4464"/>
            </a:avLst>
          </a:prstGeom>
          <a:solidFill>
            <a:srgbClr val="F4F6F6"/>
          </a:solidFill>
          <a:ln w="12700">
            <a:solidFill>
              <a:srgbClr val="DDE6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72984" y="3611880"/>
            <a:ext cx="640080" cy="64008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23" name="Text 21"/>
          <p:cNvSpPr/>
          <p:nvPr/>
        </p:nvSpPr>
        <p:spPr>
          <a:xfrm>
            <a:off x="7872984" y="3611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2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260336" y="438912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2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06056" y="4800600"/>
            <a:ext cx="177393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 real para política social y subsidios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345168" y="3337560"/>
            <a:ext cx="2048256" cy="2651760"/>
          </a:xfrm>
          <a:prstGeom prst="roundRect">
            <a:avLst>
              <a:gd name="adj" fmla="val 4464"/>
            </a:avLst>
          </a:prstGeom>
          <a:solidFill>
            <a:srgbClr val="F4F6F6"/>
          </a:solidFill>
          <a:ln w="12700">
            <a:solidFill>
              <a:srgbClr val="DDE6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49256" y="3611880"/>
            <a:ext cx="640080" cy="64008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28" name="Text 26"/>
          <p:cNvSpPr/>
          <p:nvPr/>
        </p:nvSpPr>
        <p:spPr>
          <a:xfrm>
            <a:off x="10049256" y="3611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2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9436608" y="438912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2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Analizable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482328" y="4800600"/>
            <a:ext cx="177393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responde con correlación y regresión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DataXperience · Proyecto Final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2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· MÓDULO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2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Selección, carga y limpieza de datos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022F3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11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OFICIAL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Secretaría Distrital de Salud de Bogotá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4572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"Pobreza y desigualdad en Bogotá D.C"
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Origen: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Multipropósito (DANE - SDP)
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Portal: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datosabiertos.bogota.gov.co
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Cobertura: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localidades, años 2003–2021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35040" y="1828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2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LIMPIEZA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2286000"/>
            <a:ext cx="457200" cy="45720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2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75120" y="22402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2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el CSV oficial (separador ; y decimales con coma)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35040" y="3063240"/>
            <a:ext cx="457200" cy="45720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2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75120" y="30175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2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tipos de variable, nulos e indicadores disponibles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35040" y="3840480"/>
            <a:ext cx="457200" cy="45720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2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75120" y="37947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2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solo los 3 indicadores relevantes para la pregunta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35040" y="4617720"/>
            <a:ext cx="457200" cy="45720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2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75120" y="45720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2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Pivotear de formato largo a tabla analizable por localidad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035040" y="5394960"/>
            <a:ext cx="457200" cy="45720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22" name="Text 20"/>
          <p:cNvSpPr/>
          <p:nvPr/>
        </p:nvSpPr>
        <p:spPr>
          <a:xfrm>
            <a:off x="6035040" y="5394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2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75120" y="53492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2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tipos, nulos y estadísticas del set ya limpio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DataXperience · Proyecto Final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2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· MÓDULO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2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Estadística descriptiva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691640" cy="1828800"/>
          </a:xfrm>
          <a:prstGeom prst="roundRect">
            <a:avLst>
              <a:gd name="adj" fmla="val 5405"/>
            </a:avLst>
          </a:prstGeom>
          <a:solidFill>
            <a:srgbClr val="F4F6F6"/>
          </a:solidFill>
          <a:ln w="12700">
            <a:solidFill>
              <a:srgbClr val="DDE6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202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13232" y="260604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Pobreza monetaria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por localidad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68880" y="1783080"/>
            <a:ext cx="1691640" cy="1828800"/>
          </a:xfrm>
          <a:prstGeom prst="roundRect">
            <a:avLst>
              <a:gd name="adj" fmla="val 5405"/>
            </a:avLst>
          </a:prstGeom>
          <a:solidFill>
            <a:srgbClr val="F4F6F6"/>
          </a:solidFill>
          <a:ln w="12700">
            <a:solidFill>
              <a:srgbClr val="DDE6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9202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4F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0.49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542032" y="260604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 de Gini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0" y="1783080"/>
            <a:ext cx="1691640" cy="1828800"/>
          </a:xfrm>
          <a:prstGeom prst="roundRect">
            <a:avLst>
              <a:gd name="adj" fmla="val 5405"/>
            </a:avLst>
          </a:prstGeom>
          <a:solidFill>
            <a:srgbClr val="F4F6F6"/>
          </a:solidFill>
          <a:ln w="12700">
            <a:solidFill>
              <a:srgbClr val="DD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19202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pts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370832" y="260604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Desviación estándar de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pobreza monetaria</a:t>
            </a:r>
            <a:endParaRPr lang="en-US" sz="1050" dirty="0"/>
          </a:p>
        </p:txBody>
      </p:sp>
      <p:pic>
        <p:nvPicPr>
          <p:cNvPr id="13" name="Image 0" descr="/home/claude/proyecto_bogota/imgs/boxpl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737360"/>
            <a:ext cx="5486400" cy="28803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0080" y="3886200"/>
            <a:ext cx="5212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22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pobreza monetaria es, por lejos, la variable más dispersa entre localidades: hay desde 7.9% (Teusaquillo) hasta 57.8% (Usme). El Gini varía mucho menos.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40080" y="512064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FCEFD9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51206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Santa Fe es un outlier: Gini de 0.65, el más alto de la ciudad.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DataXperience · Proyecto Final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2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· MÓDULO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2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hallazgo contraintuitivo</a:t>
            </a:r>
            <a:endParaRPr lang="en-US" sz="2800" dirty="0"/>
          </a:p>
        </p:txBody>
      </p:sp>
      <p:pic>
        <p:nvPicPr>
          <p:cNvPr id="4" name="Image 0" descr="/home/claude/proyecto_bogota/imgs/barras_pobrez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5394960" cy="4480560"/>
          </a:xfrm>
          <a:prstGeom prst="rect">
            <a:avLst/>
          </a:prstGeom>
        </p:spPr>
      </p:pic>
      <p:pic>
        <p:nvPicPr>
          <p:cNvPr id="5" name="Image 1" descr="/home/claude/proyecto_bogota/imgs/scatter_gini_pobrez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737360"/>
            <a:ext cx="5486400" cy="42062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172200" y="5989320"/>
            <a:ext cx="5486400" cy="548640"/>
          </a:xfrm>
          <a:prstGeom prst="roundRect">
            <a:avLst>
              <a:gd name="adj" fmla="val 13333"/>
            </a:avLst>
          </a:prstGeom>
          <a:solidFill>
            <a:srgbClr val="022F35"/>
          </a:solidFill>
          <a:ln/>
        </p:spPr>
      </p:sp>
      <p:sp>
        <p:nvSpPr>
          <p:cNvPr id="7" name="Text 3"/>
          <p:cNvSpPr/>
          <p:nvPr/>
        </p:nvSpPr>
        <p:spPr>
          <a:xfrm>
            <a:off x="6355080" y="59893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Gini ↔ Pobreza monetaria: r ≈ −0.01 (casi nula)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DataXperience · Proyecto Final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2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· MÓDULO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22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Evolución en el tiempo y modelo predictivo</a:t>
            </a:r>
            <a:endParaRPr lang="en-US" sz="2700" dirty="0"/>
          </a:p>
        </p:txBody>
      </p:sp>
      <p:pic>
        <p:nvPicPr>
          <p:cNvPr id="4" name="Image 0" descr="/home/claude/proyecto_bogota/imgs/serie_histor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5577840" cy="4023360"/>
          </a:xfrm>
          <a:prstGeom prst="rect">
            <a:avLst/>
          </a:prstGeom>
        </p:spPr>
      </p:pic>
      <p:pic>
        <p:nvPicPr>
          <p:cNvPr id="5" name="Image 1" descr="/home/claude/proyecto_bogota/imgs/real_vs_p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37360"/>
            <a:ext cx="4297680" cy="32918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400800" y="5166360"/>
            <a:ext cx="2084832" cy="1051560"/>
          </a:xfrm>
          <a:prstGeom prst="roundRect">
            <a:avLst>
              <a:gd name="adj" fmla="val 8696"/>
            </a:avLst>
          </a:prstGeom>
          <a:solidFill>
            <a:srgbClr val="022F35"/>
          </a:solidFill>
          <a:ln/>
        </p:spPr>
      </p:sp>
      <p:sp>
        <p:nvSpPr>
          <p:cNvPr id="7" name="Text 3"/>
          <p:cNvSpPr/>
          <p:nvPr/>
        </p:nvSpPr>
        <p:spPr>
          <a:xfrm>
            <a:off x="6400800" y="525780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0.50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400800" y="576072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del modelo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8613648" y="5166360"/>
            <a:ext cx="2084832" cy="1051560"/>
          </a:xfrm>
          <a:prstGeom prst="roundRect">
            <a:avLst>
              <a:gd name="adj" fmla="val 8696"/>
            </a:avLst>
          </a:prstGeom>
          <a:solidFill>
            <a:srgbClr val="022F35"/>
          </a:solidFill>
          <a:ln/>
        </p:spPr>
      </p:sp>
      <p:sp>
        <p:nvSpPr>
          <p:cNvPr id="10" name="Text 6"/>
          <p:cNvSpPr/>
          <p:nvPr/>
        </p:nvSpPr>
        <p:spPr>
          <a:xfrm>
            <a:off x="8613648" y="525780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3 p.p.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8613648" y="576072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del modelo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DataXperience · Proyecto Final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2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encontramos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9A2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2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719072"/>
            <a:ext cx="10058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Bogotá es profundamente desigual en su territorio: de 7.9% a 57.8% de pobreza monetaria según la localidad.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9A23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2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2862072"/>
            <a:ext cx="10058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 Fe combina el Gini más alto de la ciudad con pobreza alta: ricos y pobres conviven en la misma zona.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9A23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2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4005072"/>
            <a:ext cx="10058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Gini casi no se correlaciona con la pobreza (r ≈ −0.01): desigualdad interna y pobreza son fenómenos distintos.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5257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9A23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257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2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5148072"/>
            <a:ext cx="10058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pobreza monetaria sí predice bien la pobreza extrema (r ≈ 0.89) — el mejor punto de partida para focalizar política pública.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DataXperience · Proyecto Final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2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PROFESIONAL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2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los datos a la decisión pública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022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mismo flujo —cargar, limpiar, explorar, visualizar y modelar— es el que sustenta un dashboard de política social o un sistema de apoyo a la decisión para una Secretaría Distrital.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3429000" cy="2514600"/>
          </a:xfrm>
          <a:prstGeom prst="roundRect">
            <a:avLst>
              <a:gd name="adj" fmla="val 3636"/>
            </a:avLst>
          </a:prstGeom>
          <a:solidFill>
            <a:srgbClr val="F4F6F6"/>
          </a:solidFill>
          <a:ln w="12700">
            <a:solidFill>
              <a:srgbClr val="DDE6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3337560"/>
            <a:ext cx="548640" cy="54864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37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2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0233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2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subsidios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407408"/>
            <a:ext cx="2880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qué localidades necesitan más apoyo primero, con datos y no solo intuición.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3063240"/>
            <a:ext cx="3429000" cy="2514600"/>
          </a:xfrm>
          <a:prstGeom prst="roundRect">
            <a:avLst>
              <a:gd name="adj" fmla="val 3636"/>
            </a:avLst>
          </a:prstGeom>
          <a:solidFill>
            <a:srgbClr val="F4F6F6"/>
          </a:solidFill>
          <a:ln w="12700">
            <a:solidFill>
              <a:srgbClr val="DDE6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3337560"/>
            <a:ext cx="548640" cy="54864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3337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2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40233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2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Monitorear impacto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17720" y="4407408"/>
            <a:ext cx="2880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en el tiempo si los programas sociales realmente reducen la pobreza por zona.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3063240"/>
            <a:ext cx="3429000" cy="2514600"/>
          </a:xfrm>
          <a:prstGeom prst="roundRect">
            <a:avLst>
              <a:gd name="adj" fmla="val 3636"/>
            </a:avLst>
          </a:prstGeom>
          <a:solidFill>
            <a:srgbClr val="F4F6F6"/>
          </a:solidFill>
          <a:ln w="12700">
            <a:solidFill>
              <a:srgbClr val="DDE6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3337560"/>
            <a:ext cx="548640" cy="54864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3337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2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21040" y="40233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2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el modelo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21040" y="4407408"/>
            <a:ext cx="2880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Sumar variables de educación, salud y empleo para predicciones más completas.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DataXperience · Proyecto Final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2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058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¡Gracias!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Desigualdad social en Bogotá — Proyecto Final DataXperience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2788920"/>
            <a:ext cx="10515600" cy="2788920"/>
          </a:xfrm>
          <a:prstGeom prst="roundRect">
            <a:avLst>
              <a:gd name="adj" fmla="val 3934"/>
            </a:avLst>
          </a:prstGeom>
          <a:solidFill>
            <a:srgbClr val="0A3D45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389120" y="30632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Johan David Pinto Martín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3520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0" y="35204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Sistemas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3977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0" y="39776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Camila Silva Gómez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4434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 · GRUPO · CICLO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0" y="44348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DataXperience · 1 · 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143000" y="4956048"/>
            <a:ext cx="9875520" cy="0"/>
          </a:xfrm>
          <a:prstGeom prst="line">
            <a:avLst/>
          </a:prstGeom>
          <a:noFill/>
          <a:ln w="12700">
            <a:solidFill>
              <a:srgbClr val="1E5B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51023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Notebook, dataset y README completos en el repositorio de GitHub del proyecto.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DataXperience · Proyecto Final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2026-09-17T07:43:55Z</dcterms:created>
  <dcterms:modified xsi:type="dcterms:W3CDTF">2026-09-17T07:43:55Z</dcterms:modified>
</cp:coreProperties>
</file>